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Before Log Transform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(linear scale)</c:v>
                </c:pt>
              </c:strCache>
            </c:strRef>
          </c:tx>
          <c:spPr>
            <a:solidFill>
              <a:srgbClr val="D356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Semi-major Axis vs Insolation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92-4CE2-AE19-7FD3D8A69E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"/>
          <c:min val="-1"/>
        </c:scaling>
        <c:delete val="0"/>
        <c:axPos val="l"/>
        <c:majorGridlines>
          <c:spPr>
            <a:ln w="12700" cap="flat">
              <a:solidFill>
                <a:srgbClr val="E2E2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After Log Transform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Log-transformed</c:v>
                </c:pt>
              </c:strCache>
            </c:strRef>
          </c:tx>
          <c:spPr>
            <a:solidFill>
              <a:srgbClr val="3FA7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Semi-major Axis vs Insolation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-0.52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87-494A-9A39-7AD6D18DFA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"/>
          <c:min val="-1"/>
        </c:scaling>
        <c:delete val="0"/>
        <c:axPos val="l"/>
        <c:majorGridlines>
          <c:spPr>
            <a:ln w="12700" cap="flat">
              <a:solidFill>
                <a:srgbClr val="E2E2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F4B942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Leaked
(invalid)</c:v>
                </c:pt>
                <c:pt idx="1">
                  <c:v>Kepler-Law
leak</c:v>
                </c:pt>
                <c:pt idx="2">
                  <c:v>Leakage-aware
(primary)</c:v>
                </c:pt>
                <c:pt idx="3">
                  <c:v>TOI-compatible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0.99560000000000004</c:v>
                </c:pt>
                <c:pt idx="1">
                  <c:v>0.9385</c:v>
                </c:pt>
                <c:pt idx="2">
                  <c:v>0.91710000000000003</c:v>
                </c:pt>
                <c:pt idx="3">
                  <c:v>0.81100000000000005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8C-496A-B045-8D0605859A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C7CB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12700" cap="flat">
              <a:solidFill>
                <a:srgbClr val="2A34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7CB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0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1033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1B2A6B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Orbital Period</c:v>
                </c:pt>
                <c:pt idx="1">
                  <c:v>Stellar Temp.</c:v>
                </c:pt>
                <c:pt idx="2">
                  <c:v>Planet Mass</c:v>
                </c:pt>
                <c:pt idx="3">
                  <c:v>Distance</c:v>
                </c:pt>
                <c:pt idx="4">
                  <c:v>Discovery Yr.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0.45679999999999998</c:v>
                </c:pt>
                <c:pt idx="1">
                  <c:v>0.36409999999999998</c:v>
                </c:pt>
                <c:pt idx="2">
                  <c:v>8.3299999999999999E-2</c:v>
                </c:pt>
                <c:pt idx="3">
                  <c:v>1.3299999999999999E-2</c:v>
                </c:pt>
                <c:pt idx="4">
                  <c:v>7.3000000000000001E-3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B4-4386-B20F-01A4CB6DD4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5000000000000004"/>
          <c:min val="0"/>
        </c:scaling>
        <c:delete val="0"/>
        <c:axPos val="b"/>
        <c:majorGridlines>
          <c:spPr>
            <a:ln w="12700" cap="flat">
              <a:solidFill>
                <a:srgbClr val="E2E2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722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91440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03120" y="43891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14630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53949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8229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39319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6459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51206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58521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0" y="5486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92640" y="60350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612648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349240" y="1051560"/>
            <a:ext cx="1463040" cy="14630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5" name="Image 0" descr="/home/claude/icons/planet_F4B9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630" y="1431950"/>
            <a:ext cx="702259" cy="70225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" y="27889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EXOPHCA</a:t>
            </a:r>
            <a:endParaRPr lang="en-US" sz="5400" dirty="0"/>
          </a:p>
        </p:txBody>
      </p:sp>
      <p:sp>
        <p:nvSpPr>
          <p:cNvPr id="17" name="Text 14"/>
          <p:cNvSpPr/>
          <p:nvPr/>
        </p:nvSpPr>
        <p:spPr>
          <a:xfrm>
            <a:off x="548640" y="3703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Exoplanet Habitability Compatibility Analysis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463040" y="4224528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and predicting exoplanet habitability from NASA archive data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166360" y="4892040"/>
            <a:ext cx="1828800" cy="0"/>
          </a:xfrm>
          <a:prstGeom prst="line">
            <a:avLst/>
          </a:prstGeom>
          <a:noFill/>
          <a:ln w="12700">
            <a:solidFill>
              <a:srgbClr val="F4B9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GURJOT SINGH| ROLL NO: 24BCS003 |  RIMT University  |  Industrial Training at Meander Software Pvt. Ltd.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38528"/>
            <a:ext cx="640080" cy="64008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6" name="Image 0" descr="/home/claude/icons/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10494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37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21214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habitability scoring matters, and the data gap it addresses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55080" y="1554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938528"/>
            <a:ext cx="640080" cy="64008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1" name="Image 1" descr="/home/claude/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210494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737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&amp; Pipeline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406640" y="21214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archive data, cleaning, and system architecture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584448"/>
            <a:ext cx="640080" cy="64008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6" name="Image 2" descr="/home/claude/icons/flas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375086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832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600200" y="376732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Similarity Index, superhabitability, and machine learning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35508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3584448"/>
            <a:ext cx="640080" cy="64008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21" name="Image 3" descr="/home/claude/icons/warnin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0101" y="375086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3832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Discovery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406640" y="376732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fixing data leakage — the project's key turning point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48640" y="4846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230368"/>
            <a:ext cx="640080" cy="64008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26" name="Image 4" descr="/home/claude/icons/chartLin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61" y="5396789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029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Results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1600200" y="541324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predictions on unconfirmed TESS candidates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355080" y="4846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83680" y="5230368"/>
            <a:ext cx="640080" cy="64008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31" name="Image 5" descr="/home/claude/icons/rocke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0101" y="5396789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06640" y="5029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 &amp; What's Next</a:t>
            </a:r>
            <a:endParaRPr lang="en-US" sz="2000" dirty="0"/>
          </a:p>
        </p:txBody>
      </p:sp>
      <p:sp>
        <p:nvSpPr>
          <p:cNvPr id="33" name="Text 25"/>
          <p:cNvSpPr/>
          <p:nvPr/>
        </p:nvSpPr>
        <p:spPr>
          <a:xfrm>
            <a:off x="7406640" y="541324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EXOPHCA in action, and future directions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600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Exoplanets Are Discovered Before They're Understood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6,000 confirmed exoplanets. Thousands more unconfirmed candidates.
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measurements — precise radius, stellar flux — often aren't available until much later, if ever. Yet limited telescope time means we must decide which candidates deserve costly follow-up observation.
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464014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0B103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646894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estimate habitability using only the limited, early-available data we have at the point of detection?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49440" y="1600200"/>
            <a:ext cx="4663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170992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6,319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052560" y="170992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planets analyzed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49440" y="3017520"/>
            <a:ext cx="4663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312724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8,064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052560" y="312724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 candidates screened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49440" y="4434840"/>
            <a:ext cx="4663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454456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0.37%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4544568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strict habitability criteria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5" name="Image 0" descr="/home/claude/icons/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18390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73352"/>
            <a:ext cx="10241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real NASA archive data and understand its structure and biases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532888"/>
            <a:ext cx="566928" cy="566928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8" name="Image 1" descr="/home/claude/icons/rul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2680289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514600"/>
            <a:ext cx="10241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scientifically grounded habitability scoring system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48640" y="3374136"/>
            <a:ext cx="566928" cy="566928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1" name="Image 2" descr="/home/claude/icons/bra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3521537"/>
            <a:ext cx="272125" cy="272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355848"/>
            <a:ext cx="10241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leakage-free ML model for early-stage, indirect data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548640" y="4215384"/>
            <a:ext cx="566928" cy="566928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4" name="Image 3" descr="/home/claude/icons/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41" y="4362785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197096"/>
            <a:ext cx="10241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real, currently unconfirmed TESS candidates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548640" y="5056632"/>
            <a:ext cx="566928" cy="566928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7" name="Image 4" descr="/home/claude/icons/rocke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41" y="5204033"/>
            <a:ext cx="272125" cy="2721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5038344"/>
            <a:ext cx="10241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interactive, non-technical-friendly application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NASA Data Sources, Two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1B2A6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77440"/>
            <a:ext cx="5349240" cy="68580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202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icons/database_1B2A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5798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PSCompPars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965960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Planetary Systems Composite Parameters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3291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6,319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91440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exoplanets · 325 attributes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6916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B1033"/>
          </a:solidFill>
          <a:ln/>
        </p:spPr>
      </p:sp>
      <p:sp>
        <p:nvSpPr>
          <p:cNvPr id="15" name="Shape 12"/>
          <p:cNvSpPr/>
          <p:nvPr/>
        </p:nvSpPr>
        <p:spPr>
          <a:xfrm>
            <a:off x="6263640" y="2377440"/>
            <a:ext cx="5349240" cy="685800"/>
          </a:xfrm>
          <a:prstGeom prst="rect">
            <a:avLst/>
          </a:prstGeom>
          <a:solidFill>
            <a:srgbClr val="0B1033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0" y="19202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/home/claude/icons/telescope_0B10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2157984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8096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TOI Table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7680960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 Objects of Interest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629400" y="3291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8,064</a:t>
            </a:r>
            <a:endParaRPr lang="en-US" sz="4000" dirty="0"/>
          </a:p>
        </p:txBody>
      </p:sp>
      <p:sp>
        <p:nvSpPr>
          <p:cNvPr id="21" name="Text 17"/>
          <p:cNvSpPr/>
          <p:nvPr/>
        </p:nvSpPr>
        <p:spPr>
          <a:xfrm>
            <a:off x="662940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 candidates · active mission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PSCompPars trains and scores; TOI validates against genuinely new, unconfirmed data.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200" dirty="0"/>
          </a:p>
        </p:txBody>
      </p:sp>
      <p:pic>
        <p:nvPicPr>
          <p:cNvPr id="4" name="Image 0" descr="/home/claude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417320"/>
            <a:ext cx="548640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Physics, Not Guesswork, Fills the Gaps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dropping every incomplete row, missing values were recovered using exact physical relationships wherever possible: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Stefan–Boltzmann Relation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063240"/>
            <a:ext cx="4617720" cy="777240"/>
          </a:xfrm>
          <a:prstGeom prst="roundRect">
            <a:avLst>
              <a:gd name="adj" fmla="val 7059"/>
            </a:avLst>
          </a:prstGeom>
          <a:solidFill>
            <a:srgbClr val="0B103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0632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insol = (eqt / 255)^4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missing insolation flux from equilibrium temperature for planets missing only one of the two.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5146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Kepler's Third Law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29400" y="3063240"/>
            <a:ext cx="4617720" cy="777240"/>
          </a:xfrm>
          <a:prstGeom prst="roundRect">
            <a:avLst>
              <a:gd name="adj" fmla="val 7059"/>
            </a:avLst>
          </a:prstGeom>
          <a:solidFill>
            <a:srgbClr val="0B1033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0632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a³ = P² × M_star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40233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missing orbital semi-major axis from orbital period and stellar mass.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9F7E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A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5,613 of 6,319 rows preserved (~89%) — vs. a much larger loss with naive dropping.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Itself Is Biased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and radial-velocity detection methods favor large, close-in planets — the confirmed-planet population is not a random sample of the galaxy.</a:t>
            </a:r>
            <a:endParaRPr lang="en-US" sz="14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246888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035040" y="246888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Astronomical relationships follow power laws, not straight lines — log transforms reveal correlations raw analysis missed.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Habitability: The Earth Similarity Index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Schulze-Makuch et al. (2011) — Earth scores exactly 1.0 by construction; similarity decreases from there.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37360" y="2103120"/>
            <a:ext cx="8686800" cy="960120"/>
          </a:xfrm>
          <a:prstGeom prst="roundRect">
            <a:avLst>
              <a:gd name="adj" fmla="val 7619"/>
            </a:avLst>
          </a:prstGeom>
          <a:solidFill>
            <a:srgbClr val="0B1033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210312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ESI = ( ESI_radius × ESI_insolation )^0.5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Superhabitability Bonus (Heller &amp; Armstrong, 2014)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4B9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947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20240" y="3794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star is K-class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379476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stellar lifetime, greater long-term stability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4B9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80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44805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between 1.0–1.5 R⊕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448056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planets may retain atmosphere &amp; activity longer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intentionally left uncapped — planets can exceed Earth's own baseline of 1.0.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Model Was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Good to Be True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model scored an almost perfect R² of 0.9956 — because it was given the same variables used to build its own target score.</a:t>
            </a:r>
            <a:endParaRPr lang="en-US" sz="14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3063240"/>
          <a:ext cx="108813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6" name="Image 0" descr="/home/claude/icons/lay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5623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Non-linear by design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ESI formula's absolute-value and exponent terms; Linear Regression scored R² = -142.5 on the same data.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87452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1" name="Image 1" descr="/home/claude/icons/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20290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5623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feature importance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75120" y="2468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revealed the leakage problem, and later confirmed the corrected model's predictors made physical sense.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6" name="Image 2" descr="/home/claude/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94" y="42236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507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feature scaling needed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8680" y="466344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Threshold-split trees are unaffected by wildly different feature scales (e.g., planet mass spans orders of magnitude).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06908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21" name="Image 3" descr="/home/claude/icons/cog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934" y="42236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0507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at this data scale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675120" y="466344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~5,600 training rows, 3–9 features — well suited to Random Forest without deep-learning-scale data needs.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Indirect Model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00200"/>
          <a:ext cx="108813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period and stellar temperature dominate — not because of a direct formula, but because of detection bias favoring short-period planets. R² = 0.9171.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STRIKING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Earth Doesn't Score Perfectly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141B4D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True ESI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score — Earth compared to itself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463040" y="4023360"/>
            <a:ext cx="35204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062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Model's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5349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35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~0.55</a:t>
            </a:r>
            <a:endParaRPr lang="en-US" sz="50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141B4D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0116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Precedent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2331720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629400" y="356616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Barnes et al. (2015) — Earth's score under a transit-based habitability index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78040" y="4297680"/>
            <a:ext cx="35204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5262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results reveal the same effect: detection-biased training data can underrate even a confirmed habitable planet.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Real, Unconfirmed TESS Candidates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candidate-compatible model (R² = 0.811) was applied to 5,039 open TESS candidates — planets nobody has fully characterized yet.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21945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TOI Designation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Orbital Period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Stellar Temp.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TOI-7347.01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60.83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3,736 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227.3 pc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TOI-6714.01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4.77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2,824 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 pc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TOI-2094.01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18.79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3,457 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 pc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TOI-450.01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10.71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3,054 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 pc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top-ranked candidates orbit cool K/M-dwarf stars (2,800–4,300K) — physically coherent, since even short orbits stay temperate around dimmer stars.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5E0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5486400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9" name="Image 0" descr="/home/claude/icons/star_0B10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561715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53492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TOI-6714.01 sits just 26.7 parsecs away — the closest candidate, and a strong real-world follow-up target.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EXOPHCA: The Interactive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6" name="Image 0" descr="/home/claude/icons/flas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5623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Score Calculator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ESI-based scoring for planets with complete radius &amp; insolation data, with preset solar-system and known-exoplanet values.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87452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1" name="Image 1" descr="/home/claude/icons/brai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20290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5623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ML Predictor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75120" y="2468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Habitability estimation for candidates with only period, temperature, and distance — the real TOI use case.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6" name="Image 2" descr="/home/claude/icons/char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94" y="42236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507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Visualizations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8680" y="466344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comparisons, star/planet color previews, and population scatter plots showing where each planet lands.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4444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069080"/>
            <a:ext cx="594360" cy="59436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21" name="Image 3" descr="/home/claude/icons/bul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934" y="42236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0507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&amp; Methodology Notes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675120" y="466344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explanations and an honest account of the leakage-correction process, built into the app itself.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5" name="Image 0" descr="/home/claude/icons/check_0B10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183428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459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leakage-free indirect model estimates habitability (R² ≈ 0.81–0.92) using only early-available, indirect data.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/home/claude/icons/check_0B10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28401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6517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bias in confirmed-exoplanet data measurably affects models — even underrating Earth itself, echoing published research.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1" name="Image 2" descr="/home/claude/icons/check_0B10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84596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6576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currently unconfirmed TESS candidates were ranked, proving practical use beyond the training set.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4709160"/>
            <a:ext cx="548640" cy="54864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3" descr="/home/claude/icons/check_0B10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485180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6634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habitable-zone cutoffs exclude meaningful near-miss planets that continuous scoring correctly identifies.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6" name="Image 0" descr="/home/claude/icons/thermomet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Kopparapu-based boundaries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Stellar-temperature-dependent habitable zone limits, replacing the current flat cutoff.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828800"/>
            <a:ext cx="548640" cy="5486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1" name="Image 1" descr="/home/claude/icons/glob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646" y="1971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superhabitability modeling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atmospheric data as it becomes available for more exoplanets.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828800"/>
            <a:ext cx="548640" cy="5486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6" name="Image 2" descr="/home/claude/icons/lay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406" y="197144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TESS + Kepler candidates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6676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validation once schema differences are reconciled.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21" name="Image 3" descr="/home/claude/icons/chartLin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41660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709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re-validation pipeline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166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Auto-query the NASA TAP API to keep predictions current as TESS finds more candidates.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794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023360"/>
            <a:ext cx="548640" cy="5486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26" name="Image 4" descr="/home/claude/icons/questio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646" y="416600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709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Per-prediction explanations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0" y="5166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feature contributions — explain why, not just what.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3794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444444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023360"/>
            <a:ext cx="548640" cy="5486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31" name="Image 5" descr="/home/claude/icons/rocke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9406" y="416600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709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deployment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66760" y="5166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EXOPHCA online, beyond local/academic use.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91440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03120" y="43891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14630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53949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8229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39319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64592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51206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58521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0" y="54864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49240" y="1188720"/>
            <a:ext cx="1463040" cy="1463040"/>
          </a:xfrm>
          <a:prstGeom prst="ellipse">
            <a:avLst/>
          </a:prstGeom>
          <a:solidFill>
            <a:srgbClr val="1B2A6B"/>
          </a:solidFill>
          <a:ln/>
        </p:spPr>
      </p:sp>
      <p:pic>
        <p:nvPicPr>
          <p:cNvPr id="13" name="Image 0" descr="/home/claude/icons/planet_F4B9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630" y="1569110"/>
            <a:ext cx="702259" cy="7022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29260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166360" y="4434840"/>
            <a:ext cx="1828800" cy="0"/>
          </a:xfrm>
          <a:prstGeom prst="line">
            <a:avLst/>
          </a:prstGeom>
          <a:noFill/>
          <a:ln w="12700">
            <a:solidFill>
              <a:srgbClr val="F4B9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EXOPHCA — Exoplanet Habitability Compatibility Analysis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1179</Words>
  <Application>Microsoft Office PowerPoint</Application>
  <PresentationFormat>Widescreen</PresentationFormat>
  <Paragraphs>202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Aether Sky</cp:lastModifiedBy>
  <cp:revision>5</cp:revision>
  <dcterms:created xsi:type="dcterms:W3CDTF">2026-08-02T10:49:14Z</dcterms:created>
  <dcterms:modified xsi:type="dcterms:W3CDTF">2026-08-02T17:26:57Z</dcterms:modified>
</cp:coreProperties>
</file>