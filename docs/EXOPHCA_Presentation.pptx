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38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A1A2E"/>
                </a:solidFill>
                <a:latin typeface="Arial"/>
              </a:rPr>
              <a:t>Before Log Transform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Raw (linear scale)</c:v>
                </c:pt>
              </c:strCache>
            </c:strRef>
          </c:tx>
          <c:spPr>
            <a:solidFill>
              <a:srgbClr val="D3564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Semi-major Axis vs Insolation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92-4CE2-AE19-7FD3D8A69E1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6B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2"/>
          <c:min val="-1"/>
        </c:scaling>
        <c:delete val="0"/>
        <c:axPos val="l"/>
        <c:majorGridlines>
          <c:spPr>
            <a:ln w="12700" cap="flat">
              <a:solidFill>
                <a:srgbClr val="E2E2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A1A2E"/>
                </a:solidFill>
                <a:latin typeface="Arial"/>
              </a:rPr>
              <a:t>After Log Transform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Log-transformed</c:v>
                </c:pt>
              </c:strCache>
            </c:strRef>
          </c:tx>
          <c:spPr>
            <a:solidFill>
              <a:srgbClr val="3FA76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Semi-major Axis vs Insolation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-0.52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87-494A-9A39-7AD6D18DFA0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6B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2"/>
          <c:min val="-1"/>
        </c:scaling>
        <c:delete val="0"/>
        <c:axPos val="l"/>
        <c:majorGridlines>
          <c:spPr>
            <a:ln w="12700" cap="flat">
              <a:solidFill>
                <a:srgbClr val="E2E2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F4B942"/>
            </a:solidFill>
            <a:effectLst/>
          </c:spPr>
          <c:invertIfNegative val="0"/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Leaked
(invalid)</c:v>
                </c:pt>
                <c:pt idx="1">
                  <c:v>Kepler-Law
leak</c:v>
                </c:pt>
                <c:pt idx="2">
                  <c:v>Leakage-aware
(primary)</c:v>
                </c:pt>
                <c:pt idx="3">
                  <c:v>TOI-compatible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0.99560000000000004</c:v>
                </c:pt>
                <c:pt idx="1">
                  <c:v>0.9385</c:v>
                </c:pt>
                <c:pt idx="2">
                  <c:v>0.91710000000000003</c:v>
                </c:pt>
                <c:pt idx="3">
                  <c:v>0.81100000000000005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8C-496A-B045-8D0605859AF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C7CBE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1000000000000001"/>
          <c:min val="0"/>
        </c:scaling>
        <c:delete val="0"/>
        <c:axPos val="l"/>
        <c:majorGridlines>
          <c:spPr>
            <a:ln w="12700" cap="flat">
              <a:solidFill>
                <a:srgbClr val="2A347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7CBE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033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B1033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Feature Importance</c:v>
                </c:pt>
              </c:strCache>
            </c:strRef>
          </c:tx>
          <c:spPr>
            <a:solidFill>
              <a:srgbClr val="1B2A6B"/>
            </a:solidFill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Orbital Period</c:v>
                </c:pt>
                <c:pt idx="1">
                  <c:v>Stellar Temp.</c:v>
                </c:pt>
                <c:pt idx="2">
                  <c:v>Planet Mass</c:v>
                </c:pt>
                <c:pt idx="3">
                  <c:v>Distance</c:v>
                </c:pt>
                <c:pt idx="4">
                  <c:v>Discovery Yr.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0.45679999999999998</c:v>
                </c:pt>
                <c:pt idx="1">
                  <c:v>0.36409999999999998</c:v>
                </c:pt>
                <c:pt idx="2">
                  <c:v>8.3299999999999999E-2</c:v>
                </c:pt>
                <c:pt idx="3">
                  <c:v>1.3299999999999999E-2</c:v>
                </c:pt>
                <c:pt idx="4">
                  <c:v>7.3000000000000001E-3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B4-4386-B20F-01A4CB6DD48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55000000000000004"/>
          <c:min val="0"/>
        </c:scaling>
        <c:delete val="0"/>
        <c:axPos val="b"/>
        <c:majorGridlines>
          <c:spPr>
            <a:ln w="12700" cap="flat">
              <a:solidFill>
                <a:srgbClr val="E2E2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4722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4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914400"/>
            <a:ext cx="45720" cy="4572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103120" y="4389120"/>
            <a:ext cx="45720" cy="4572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291840" y="1463040"/>
            <a:ext cx="45720" cy="4572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394960" y="5394960"/>
            <a:ext cx="45720" cy="4572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132320" y="822960"/>
            <a:ext cx="45720" cy="4572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778240" y="3931920"/>
            <a:ext cx="45720" cy="4572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424160" y="1645920"/>
            <a:ext cx="45720" cy="4572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338560" y="5120640"/>
            <a:ext cx="45720" cy="4572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5852160"/>
            <a:ext cx="45720" cy="4572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035040" y="548640"/>
            <a:ext cx="45720" cy="4572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692640" y="6035040"/>
            <a:ext cx="45720" cy="4572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206240" y="6126480"/>
            <a:ext cx="45720" cy="4572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349240" y="1051560"/>
            <a:ext cx="1463040" cy="1463040"/>
          </a:xfrm>
          <a:prstGeom prst="ellipse">
            <a:avLst/>
          </a:prstGeom>
          <a:solidFill>
            <a:srgbClr val="1B2A6B"/>
          </a:solidFill>
          <a:ln/>
        </p:spPr>
      </p:sp>
      <p:pic>
        <p:nvPicPr>
          <p:cNvPr id="15" name="Image 0" descr="/home/claude/icons/planet_F4B9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9630" y="1431950"/>
            <a:ext cx="702259" cy="702259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48640" y="278892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EXOPHCA</a:t>
            </a:r>
            <a:endParaRPr lang="en-US" sz="5400" dirty="0"/>
          </a:p>
        </p:txBody>
      </p:sp>
      <p:sp>
        <p:nvSpPr>
          <p:cNvPr id="17" name="Text 14"/>
          <p:cNvSpPr/>
          <p:nvPr/>
        </p:nvSpPr>
        <p:spPr>
          <a:xfrm>
            <a:off x="548640" y="3703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Exoplanet Habitability Compatibility Analysis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1463040" y="4224528"/>
            <a:ext cx="9235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7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and predicting exoplanet habitability from NASA archive data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166360" y="4892040"/>
            <a:ext cx="1828800" cy="0"/>
          </a:xfrm>
          <a:prstGeom prst="line">
            <a:avLst/>
          </a:prstGeom>
          <a:noFill/>
          <a:ln w="12700">
            <a:solidFill>
              <a:srgbClr val="F4B94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9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GURJOT SINGH| ROLL NO: 24BCS003 |  RIMT University  |  Industrial Training at Meander Software Pvt. Ltd.</a:t>
            </a:r>
            <a:endParaRPr 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44444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38528"/>
            <a:ext cx="640080" cy="640080"/>
          </a:xfrm>
          <a:prstGeom prst="ellipse">
            <a:avLst/>
          </a:prstGeom>
          <a:solidFill>
            <a:srgbClr val="1B2A6B"/>
          </a:solidFill>
          <a:ln/>
        </p:spPr>
      </p:sp>
      <p:pic>
        <p:nvPicPr>
          <p:cNvPr id="6" name="Image 0" descr="/home/claude/icons/targe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210494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373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600200" y="2121408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habitability scoring matters, and the data gap it addresses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355080" y="15544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444444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1938528"/>
            <a:ext cx="640080" cy="640080"/>
          </a:xfrm>
          <a:prstGeom prst="ellipse">
            <a:avLst/>
          </a:prstGeom>
          <a:solidFill>
            <a:srgbClr val="1B2A6B"/>
          </a:solidFill>
          <a:ln/>
        </p:spPr>
      </p:sp>
      <p:pic>
        <p:nvPicPr>
          <p:cNvPr id="11" name="Image 1" descr="/home/claude/icons/databas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0101" y="210494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17373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&amp; Pipeline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7406640" y="2121408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archive data, cleaning, and system architecture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48640" y="32004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444444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584448"/>
            <a:ext cx="640080" cy="640080"/>
          </a:xfrm>
          <a:prstGeom prst="ellipse">
            <a:avLst/>
          </a:prstGeom>
          <a:solidFill>
            <a:srgbClr val="1B2A6B"/>
          </a:solidFill>
          <a:ln/>
        </p:spPr>
      </p:sp>
      <p:pic>
        <p:nvPicPr>
          <p:cNvPr id="16" name="Image 2" descr="/home/claude/icons/flas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661" y="375086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38328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Method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1600200" y="3767328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 Similarity Index, superhabitability, and machine learning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6355080" y="32004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444444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0" y="3584448"/>
            <a:ext cx="640080" cy="640080"/>
          </a:xfrm>
          <a:prstGeom prst="ellipse">
            <a:avLst/>
          </a:prstGeom>
          <a:solidFill>
            <a:srgbClr val="1B2A6B"/>
          </a:solidFill>
          <a:ln/>
        </p:spPr>
      </p:sp>
      <p:pic>
        <p:nvPicPr>
          <p:cNvPr id="21" name="Image 3" descr="/home/claude/icons/warning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0101" y="3750869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338328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Discovery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7406640" y="3767328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and fixing data leakage — the project's key turning point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548640" y="48463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444444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77240" y="5230368"/>
            <a:ext cx="640080" cy="640080"/>
          </a:xfrm>
          <a:prstGeom prst="ellipse">
            <a:avLst/>
          </a:prstGeom>
          <a:solidFill>
            <a:srgbClr val="1B2A6B"/>
          </a:solidFill>
          <a:ln/>
        </p:spPr>
      </p:sp>
      <p:pic>
        <p:nvPicPr>
          <p:cNvPr id="26" name="Image 4" descr="/home/claude/icons/chartLine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3661" y="5396789"/>
            <a:ext cx="307238" cy="30723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00200" y="502920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Results</a:t>
            </a:r>
            <a:endParaRPr lang="en-US" sz="2000" dirty="0"/>
          </a:p>
        </p:txBody>
      </p:sp>
      <p:sp>
        <p:nvSpPr>
          <p:cNvPr id="28" name="Text 21"/>
          <p:cNvSpPr/>
          <p:nvPr/>
        </p:nvSpPr>
        <p:spPr>
          <a:xfrm>
            <a:off x="1600200" y="5413248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predictions on unconfirmed TESS candidates</a:t>
            </a:r>
            <a:endParaRPr lang="en-US" sz="1600" dirty="0"/>
          </a:p>
        </p:txBody>
      </p:sp>
      <p:sp>
        <p:nvSpPr>
          <p:cNvPr id="29" name="Shape 22"/>
          <p:cNvSpPr/>
          <p:nvPr/>
        </p:nvSpPr>
        <p:spPr>
          <a:xfrm>
            <a:off x="6355080" y="48463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444444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583680" y="5230368"/>
            <a:ext cx="640080" cy="640080"/>
          </a:xfrm>
          <a:prstGeom prst="ellipse">
            <a:avLst/>
          </a:prstGeom>
          <a:solidFill>
            <a:srgbClr val="1B2A6B"/>
          </a:solidFill>
          <a:ln/>
        </p:spPr>
      </p:sp>
      <p:pic>
        <p:nvPicPr>
          <p:cNvPr id="31" name="Image 5" descr="/home/claude/icons/rocket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0101" y="5396789"/>
            <a:ext cx="307238" cy="30723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406640" y="502920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Application &amp; What's Next</a:t>
            </a:r>
            <a:endParaRPr lang="en-US" sz="2000" dirty="0"/>
          </a:p>
        </p:txBody>
      </p:sp>
      <p:sp>
        <p:nvSpPr>
          <p:cNvPr id="33" name="Text 25"/>
          <p:cNvSpPr/>
          <p:nvPr/>
        </p:nvSpPr>
        <p:spPr>
          <a:xfrm>
            <a:off x="7406640" y="5413248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EXOPHCA in action, and future directions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1600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Exoplanets Are Discovered Before They're Understood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035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6,000 confirmed exoplanets. Thousands more unconfirmed candidates.
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measurements — precise radius, stellar flux — often aren't available until much later, if ever. Yet limited telescope time means we must decide which candidates deserve costly follow-up observation.
}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464014"/>
            <a:ext cx="6035040" cy="1417320"/>
          </a:xfrm>
          <a:prstGeom prst="roundRect">
            <a:avLst>
              <a:gd name="adj" fmla="val 5161"/>
            </a:avLst>
          </a:prstGeom>
          <a:solidFill>
            <a:srgbClr val="0B103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4646894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we estimate habitability using only the limited, early-available data we have at the point of detection?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949440" y="1600200"/>
            <a:ext cx="46634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78040" y="1709928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6,319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9052560" y="1709928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planets analyzed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949440" y="3017520"/>
            <a:ext cx="46634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78040" y="3127248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8,064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9052560" y="3127248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 candidates screened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949440" y="4434840"/>
            <a:ext cx="46634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4544568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0.37%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052560" y="4544568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strict habitability criteria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rgbClr val="1B2A6B"/>
          </a:solidFill>
          <a:ln/>
        </p:spPr>
      </p:sp>
      <p:pic>
        <p:nvPicPr>
          <p:cNvPr id="5" name="Image 0" descr="/home/claude/icons/search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1839041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673352"/>
            <a:ext cx="10241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real NASA archive data and understand its structure and biases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48640" y="2532888"/>
            <a:ext cx="566928" cy="566928"/>
          </a:xfrm>
          <a:prstGeom prst="ellipse">
            <a:avLst/>
          </a:prstGeom>
          <a:solidFill>
            <a:srgbClr val="1B2A6B"/>
          </a:solidFill>
          <a:ln/>
        </p:spPr>
      </p:sp>
      <p:pic>
        <p:nvPicPr>
          <p:cNvPr id="8" name="Image 1" descr="/home/claude/icons/rul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41" y="2680289"/>
            <a:ext cx="272125" cy="2721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2514600"/>
            <a:ext cx="10241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scientifically grounded habitability scoring system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548640" y="3374136"/>
            <a:ext cx="566928" cy="566928"/>
          </a:xfrm>
          <a:prstGeom prst="ellipse">
            <a:avLst/>
          </a:prstGeom>
          <a:solidFill>
            <a:srgbClr val="1B2A6B"/>
          </a:solidFill>
          <a:ln/>
        </p:spPr>
      </p:sp>
      <p:pic>
        <p:nvPicPr>
          <p:cNvPr id="11" name="Image 2" descr="/home/claude/icons/brain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041" y="3521537"/>
            <a:ext cx="272125" cy="2721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5880" y="3355848"/>
            <a:ext cx="10241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leakage-free ML model for early-stage, indirect data</a:t>
            </a:r>
            <a:endParaRPr lang="en-US" sz="1550" dirty="0"/>
          </a:p>
        </p:txBody>
      </p:sp>
      <p:sp>
        <p:nvSpPr>
          <p:cNvPr id="13" name="Shape 8"/>
          <p:cNvSpPr/>
          <p:nvPr/>
        </p:nvSpPr>
        <p:spPr>
          <a:xfrm>
            <a:off x="548640" y="4215384"/>
            <a:ext cx="566928" cy="566928"/>
          </a:xfrm>
          <a:prstGeom prst="ellipse">
            <a:avLst/>
          </a:prstGeom>
          <a:solidFill>
            <a:srgbClr val="1B2A6B"/>
          </a:solidFill>
          <a:ln/>
        </p:spPr>
      </p:sp>
      <p:pic>
        <p:nvPicPr>
          <p:cNvPr id="14" name="Image 3" descr="/home/claude/icons/check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041" y="4362785"/>
            <a:ext cx="272125" cy="27212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25880" y="4197096"/>
            <a:ext cx="10241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against real, currently unconfirmed TESS candidates</a:t>
            </a:r>
            <a:endParaRPr lang="en-US" sz="1550" dirty="0"/>
          </a:p>
        </p:txBody>
      </p:sp>
      <p:sp>
        <p:nvSpPr>
          <p:cNvPr id="16" name="Shape 10"/>
          <p:cNvSpPr/>
          <p:nvPr/>
        </p:nvSpPr>
        <p:spPr>
          <a:xfrm>
            <a:off x="548640" y="5056632"/>
            <a:ext cx="566928" cy="566928"/>
          </a:xfrm>
          <a:prstGeom prst="ellipse">
            <a:avLst/>
          </a:prstGeom>
          <a:solidFill>
            <a:srgbClr val="1B2A6B"/>
          </a:solidFill>
          <a:ln/>
        </p:spPr>
      </p:sp>
      <p:pic>
        <p:nvPicPr>
          <p:cNvPr id="17" name="Image 4" descr="/home/claude/icons/rocket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041" y="5204033"/>
            <a:ext cx="272125" cy="27212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25880" y="5038344"/>
            <a:ext cx="10241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an interactive, non-technical-friendly application</a:t>
            </a:r>
            <a:endParaRPr lang="en-US" sz="1550" dirty="0"/>
          </a:p>
        </p:txBody>
      </p:sp>
      <p:sp>
        <p:nvSpPr>
          <p:cNvPr id="19" name="Text 12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NASA Data Sources, Two Roles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44444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1B2A6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377440"/>
            <a:ext cx="5349240" cy="685800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92024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/home/claude/icons/database_1B2A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2157984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65960" y="18745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PSCompPars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965960" y="2331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Planetary Systems Composite Parameters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14400" y="32918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6,319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914400" y="4069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exoplanets · 325 attributes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63640" y="169164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444444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63640" y="169164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0B1033"/>
          </a:solidFill>
          <a:ln/>
        </p:spPr>
      </p:sp>
      <p:sp>
        <p:nvSpPr>
          <p:cNvPr id="15" name="Shape 12"/>
          <p:cNvSpPr/>
          <p:nvPr/>
        </p:nvSpPr>
        <p:spPr>
          <a:xfrm>
            <a:off x="6263640" y="2377440"/>
            <a:ext cx="5349240" cy="685800"/>
          </a:xfrm>
          <a:prstGeom prst="rect">
            <a:avLst/>
          </a:prstGeom>
          <a:solidFill>
            <a:srgbClr val="0B1033"/>
          </a:solidFill>
          <a:ln/>
        </p:spPr>
      </p:sp>
      <p:sp>
        <p:nvSpPr>
          <p:cNvPr id="16" name="Shape 13"/>
          <p:cNvSpPr/>
          <p:nvPr/>
        </p:nvSpPr>
        <p:spPr>
          <a:xfrm>
            <a:off x="6583680" y="192024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1" descr="/home/claude/icons/telescope_0B10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424" y="2157984"/>
            <a:ext cx="438912" cy="43891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680960" y="18745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TOI Table</a:t>
            </a:r>
            <a:endParaRPr lang="en-US" sz="1900" dirty="0"/>
          </a:p>
        </p:txBody>
      </p:sp>
      <p:sp>
        <p:nvSpPr>
          <p:cNvPr id="19" name="Text 15"/>
          <p:cNvSpPr/>
          <p:nvPr/>
        </p:nvSpPr>
        <p:spPr>
          <a:xfrm>
            <a:off x="7680960" y="2331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 Objects of Interest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6629400" y="32918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8,064</a:t>
            </a:r>
            <a:endParaRPr lang="en-US" sz="4000" dirty="0"/>
          </a:p>
        </p:txBody>
      </p:sp>
      <p:sp>
        <p:nvSpPr>
          <p:cNvPr id="21" name="Text 17"/>
          <p:cNvSpPr/>
          <p:nvPr/>
        </p:nvSpPr>
        <p:spPr>
          <a:xfrm>
            <a:off x="6629400" y="4069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unconfirmed candidates · active mission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PSCompPars trains and scores; TOI validates against genuinely new, unconfirmed data.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Architecture</a:t>
            </a:r>
            <a:endParaRPr lang="en-US" sz="3200" dirty="0"/>
          </a:p>
        </p:txBody>
      </p:sp>
      <p:pic>
        <p:nvPicPr>
          <p:cNvPr id="4" name="Image 0" descr="/home/claude/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1417320"/>
            <a:ext cx="5486400" cy="5074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Physics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dropping every incomplete row, missing values were recovered using exact physical relationships wherever possible: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492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5146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Stefan–Boltzmann Relation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3063240"/>
            <a:ext cx="4617720" cy="777240"/>
          </a:xfrm>
          <a:prstGeom prst="roundRect">
            <a:avLst>
              <a:gd name="adj" fmla="val 7059"/>
            </a:avLst>
          </a:prstGeom>
          <a:solidFill>
            <a:srgbClr val="0B1033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306324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insol = (eqt / 255)^4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02336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missing insolation flux from equilibrium temperature for planets missing only one of the two.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2286000"/>
            <a:ext cx="53492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25146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Kepler's Third Law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629400" y="3063240"/>
            <a:ext cx="4617720" cy="777240"/>
          </a:xfrm>
          <a:prstGeom prst="roundRect">
            <a:avLst>
              <a:gd name="adj" fmla="val 7059"/>
            </a:avLst>
          </a:prstGeom>
          <a:solidFill>
            <a:srgbClr val="0B1033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306324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a³ = P² × M_star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29400" y="402336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missing orbital semi-major axis from orbital period and stellar mass.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580644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E9F7EE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80644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A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5,613 of 6,319 rows preserved (~89%) — vs. a much larger loss with naive dropping.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Itself Is Biased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and radial-velocity detection methods favor large, close-in planets — the confirmed-planet population is not a random sample of the galaxy.</a:t>
            </a:r>
            <a:endParaRPr lang="en-US" sz="14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40080" y="2468880"/>
          <a:ext cx="51206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6035040" y="2468880"/>
          <a:ext cx="51206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Astronomical relationships follow power laws, not straight lines — log transforms reveal correlations raw analysis missed.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Scoring Habitability: The Earth Similarity Index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from Schulze-Makuch et al. (2011) — Earth scores exactly 1.0 by construction; similarity decreases from there.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737360" y="2103120"/>
            <a:ext cx="8686800" cy="960120"/>
          </a:xfrm>
          <a:prstGeom prst="roundRect">
            <a:avLst>
              <a:gd name="adj" fmla="val 7619"/>
            </a:avLst>
          </a:prstGeom>
          <a:solidFill>
            <a:srgbClr val="0B1033"/>
          </a:solidFill>
          <a:ln/>
        </p:spPr>
      </p:sp>
      <p:sp>
        <p:nvSpPr>
          <p:cNvPr id="6" name="Text 4"/>
          <p:cNvSpPr/>
          <p:nvPr/>
        </p:nvSpPr>
        <p:spPr>
          <a:xfrm>
            <a:off x="1737360" y="2103120"/>
            <a:ext cx="8686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ESI = ( ESI_radius × ESI_insolation )^0.5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Superhabitability Bonus (Heller &amp; Armstrong, 2014)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79476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F4B94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7947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+0.05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920240" y="37947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star is K-class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0" y="3794760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stellar lifetime, greater long-term stability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48056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F4B94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4805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+0.05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920240" y="44805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 between 1.0–1.5 R⊕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0" y="4480560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planets may retain atmosphere &amp; activity longer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3492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intentionally left uncapped — planets can exceed Earth's own baseline of 1.0.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TURNING POINT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 Model Was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 Good to Be True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7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early model scored an almost perfect R² of 0.9956 — because it was given the same variables used to build its own target score.</a:t>
            </a:r>
            <a:endParaRPr lang="en-US" sz="14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40080" y="3063240"/>
          <a:ext cx="1088136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Random Forest?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44444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594360" cy="594360"/>
          </a:xfrm>
          <a:prstGeom prst="ellipse">
            <a:avLst/>
          </a:prstGeom>
          <a:solidFill>
            <a:srgbClr val="1B2A6B"/>
          </a:solidFill>
          <a:ln/>
        </p:spPr>
      </p:sp>
      <p:pic>
        <p:nvPicPr>
          <p:cNvPr id="6" name="Image 0" descr="/home/claude/icons/lay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494" y="20290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56232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Non-linear by design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8680" y="246888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the ESI formula's absolute-value and exponent terms; Linear Regression scored R² = -142.5 on the same data.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55080" y="1600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444444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1874520"/>
            <a:ext cx="594360" cy="594360"/>
          </a:xfrm>
          <a:prstGeom prst="ellipse">
            <a:avLst/>
          </a:prstGeom>
          <a:solidFill>
            <a:srgbClr val="1B2A6B"/>
          </a:solidFill>
          <a:ln/>
        </p:spPr>
      </p:sp>
      <p:pic>
        <p:nvPicPr>
          <p:cNvPr id="11" name="Image 1" descr="/home/claude/icons/char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3934" y="20290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1856232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feature importance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675120" y="246888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revealed the leakage problem, and later confirmed the corrected model's predictors made physical sense.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444444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069080"/>
            <a:ext cx="594360" cy="594360"/>
          </a:xfrm>
          <a:prstGeom prst="ellipse">
            <a:avLst/>
          </a:prstGeom>
          <a:solidFill>
            <a:srgbClr val="1B2A6B"/>
          </a:solidFill>
          <a:ln/>
        </p:spPr>
      </p:sp>
      <p:pic>
        <p:nvPicPr>
          <p:cNvPr id="16" name="Image 2" descr="/home/claude/icons/chec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494" y="422361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050792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feature scaling needed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68680" y="466344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Threshold-split trees are unaffected by wildly different feature scales (e.g., planet mass spans orders of magnitude).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55080" y="37947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444444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29400" y="4069080"/>
            <a:ext cx="594360" cy="594360"/>
          </a:xfrm>
          <a:prstGeom prst="ellipse">
            <a:avLst/>
          </a:prstGeom>
          <a:solidFill>
            <a:srgbClr val="1B2A6B"/>
          </a:solidFill>
          <a:ln/>
        </p:spPr>
      </p:sp>
      <p:pic>
        <p:nvPicPr>
          <p:cNvPr id="21" name="Image 3" descr="/home/claude/icons/cog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3934" y="422361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4050792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 at this data scale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675120" y="466344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~5,600 training rows, 3–9 features — well suited to Random Forest without deep-learning-scale data needs.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the Indirect Model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600200"/>
          <a:ext cx="1088136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Orbital period and stellar temperature dominate — not because of a direct formula, but because of detection bias favoring short-period planets. R² = 0.9171.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 name="Slide 13">
    <p:bg>
      <p:bgPr>
        <a:solidFill>
          <a:srgbClr val="0B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 EXAMPLE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Estimate and Formula Score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3931920"/>
          </a:xfrm>
          <a:prstGeom prst="roundRect">
            <a:avLst>
              <a:gd name="adj" fmla="val 2326"/>
            </a:avLst>
          </a:prstGeom>
          <a:solidFill>
            <a:srgbClr val="141B4D"/>
          </a:solidFill>
          <a:ln w="12700">
            <a:solidFill>
              <a:srgbClr val="2A34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Earth's Formula ESI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5349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score for radius = 1 and insolation = 1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463040" y="4023360"/>
            <a:ext cx="3520440" cy="0"/>
          </a:xfrm>
          <a:prstGeom prst="line">
            <a:avLst/>
          </a:prstGeom>
          <a:noFill/>
          <a:ln w="12700">
            <a:solidFill>
              <a:srgbClr val="2A34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20624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Saved-model estimate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526280"/>
            <a:ext cx="5349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D356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0.551</a:t>
            </a:r>
            <a:endParaRPr lang="en-US" sz="5000" dirty="0"/>
          </a:p>
        </p:txBody>
      </p:sp>
      <p:sp>
        <p:nvSpPr>
          <p:cNvPr id="11" name="Shape 9"/>
          <p:cNvSpPr/>
          <p:nvPr/>
        </p:nvSpPr>
        <p:spPr>
          <a:xfrm>
            <a:off x="6263640" y="1737360"/>
            <a:ext cx="5349240" cy="3931920"/>
          </a:xfrm>
          <a:prstGeom prst="roundRect">
            <a:avLst>
              <a:gd name="adj" fmla="val 2326"/>
            </a:avLst>
          </a:prstGeom>
          <a:solidFill>
            <a:srgbClr val="141B4D"/>
          </a:solidFill>
          <a:ln w="12700">
            <a:solidFill>
              <a:srgbClr val="2A34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201168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63640" y="2331720"/>
            <a:ext cx="5349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/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6629400" y="356616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178040" y="4297680"/>
            <a:ext cx="3520440" cy="0"/>
          </a:xfrm>
          <a:prstGeom prst="line">
            <a:avLst/>
          </a:prstGeom>
          <a:noFill/>
          <a:ln w="12700">
            <a:solidFill>
              <a:srgbClr val="2A34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452628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inputs: 365.25 days, 5,778 K, and a 10 pc placeholder. The prediction is not a habitability probability.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 name="Slide 14"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 MODEL COMPARISON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Saved-Model Rankings and Formula Scores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5,039 open TOIs with model inputs. Random 80/20 held-out R2 = 0.8110; five-fold host-grouped OOF R2 = 0.8347.</a:t>
            </a:r>
            <a:endParaRPr lang="en-US" sz="13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val="1579011935"/>
              </p:ext>
            </p:extLst>
          </p:nvPr>
        </p:nvGraphicFramePr>
        <p:xfrm>
          <a:off x="548640" y="2194560"/>
          <a:ext cx="11064240" cy="219456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val="20000"/>
                    </a:ext>
                  </a:extLst>
                </a:gridCol>
                <a:gridCol w="2286000">
                  <a:extLst>
                    <a:ext uri="{9D8B030D-6E8A-4147-A177-3AD203B41FA5}">
                      <a16:colId val="20001"/>
                    </a:ext>
                  </a:extLst>
                </a:gridCol>
                <a:gridCol w="2194560">
                  <a:extLst>
                    <a:ext uri="{9D8B030D-6E8A-4147-A177-3AD203B41FA5}">
                      <a16:colId val="20002"/>
                    </a:ext>
                  </a:extLst>
                </a:gridCol>
                <a:gridCol w="1828800">
                  <a:extLst>
                    <a:ext uri="{9D8B030D-6E8A-4147-A177-3AD203B41FA5}">
                      <a16:colId val="20003"/>
                    </a:ext>
                  </a:extLst>
                </a:gridCol>
                <a:gridCol w="1828800">
                  <a:extLst>
                    <a:ext uri="{9D8B030D-6E8A-4147-A177-3AD203B41FA5}">
                      <a16:colId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TOI Designation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Orbital Period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Stellar Temp.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Score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TOI-7347.01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60.83 days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3,736 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227.3 pc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TOI-6714.01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4.77 days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2,824 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26.7 pc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A"/>
                    </a:solidFill>
                  </a:tcPr>
                </a:tc>
                <a:extLst>
                  <a:ext uri="{0D108BD9-81ED-4DB2-BD59-A6C34878D82A}">
                    <a16:rowId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TOI-2094.01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18.79 days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3,457 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 pc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TOI-450.01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10.71 days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3,054 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53.5 pc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A"/>
                    </a:solidFill>
                  </a:tcPr>
                </a:tc>
                <a:extLst>
                  <a:ext uri="{0D108BD9-81ED-4DB2-BD59-A6C34878D82A}">
                    <a16:rowId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7091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 (4,850 rows): R2 0.6794; Spearman 0.8371; model/formula top-21 overlap 5. Five-feature training OOF top-21 overlap 6.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5E0"/>
          </a:solidFill>
          <a:ln/>
        </p:spPr>
      </p:sp>
      <p:sp>
        <p:nvSpPr>
          <p:cNvPr id="8" name="Shape 5"/>
          <p:cNvSpPr/>
          <p:nvPr/>
        </p:nvSpPr>
        <p:spPr>
          <a:xfrm>
            <a:off x="777240" y="5486400"/>
            <a:ext cx="502920" cy="502920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9" name="Image 0" descr="/home/claude/icons/star_0B10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5617159"/>
            <a:ext cx="241402" cy="24140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534924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TOI-7347.01 is a formula-ranked lead; it remains unconfirmed and fails the strict habitability gate.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EXOPHCA: The Interactive Application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44444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594360" cy="594360"/>
          </a:xfrm>
          <a:prstGeom prst="ellipse">
            <a:avLst/>
          </a:prstGeom>
          <a:solidFill>
            <a:srgbClr val="1B2A6B"/>
          </a:solidFill>
          <a:ln/>
        </p:spPr>
      </p:sp>
      <p:pic>
        <p:nvPicPr>
          <p:cNvPr id="6" name="Image 0" descr="/home/claude/icons/flas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494" y="20290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56232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 Score Calculator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8680" y="246888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ESI-based scoring for planets with complete radius &amp; insolation data, with preset solar-system and known-exoplanet values.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55080" y="1600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444444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1874520"/>
            <a:ext cx="594360" cy="594360"/>
          </a:xfrm>
          <a:prstGeom prst="ellipse">
            <a:avLst/>
          </a:prstGeom>
          <a:solidFill>
            <a:srgbClr val="1B2A6B"/>
          </a:solidFill>
          <a:ln/>
        </p:spPr>
      </p:sp>
      <p:pic>
        <p:nvPicPr>
          <p:cNvPr id="11" name="Image 1" descr="/home/claude/icons/brain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3934" y="20290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1856232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Indirect ML Predictor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675120" y="246888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Habitability estimation for candidates with only period, temperature, and distance — the real TOI use case.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444444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069080"/>
            <a:ext cx="594360" cy="594360"/>
          </a:xfrm>
          <a:prstGeom prst="ellipse">
            <a:avLst/>
          </a:prstGeom>
          <a:solidFill>
            <a:srgbClr val="1B2A6B"/>
          </a:solidFill>
          <a:ln/>
        </p:spPr>
      </p:sp>
      <p:pic>
        <p:nvPicPr>
          <p:cNvPr id="16" name="Image 2" descr="/home/claude/icons/char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494" y="422361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050792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Visualizations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68680" y="466344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comparisons, star/planet color previews, and population scatter plots showing where each planet lands.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55080" y="37947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444444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29400" y="4069080"/>
            <a:ext cx="594360" cy="594360"/>
          </a:xfrm>
          <a:prstGeom prst="ellipse">
            <a:avLst/>
          </a:prstGeom>
          <a:solidFill>
            <a:srgbClr val="1B2A6B"/>
          </a:solidFill>
          <a:ln/>
        </p:spPr>
      </p:sp>
      <p:pic>
        <p:nvPicPr>
          <p:cNvPr id="21" name="Image 3" descr="/home/claude/icons/bulb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3934" y="422361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4050792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Glossary &amp; Methodology Notes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675120" y="466344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explanations and an honest account of the leakage-correction process, built into the app itself.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" cy="548640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5" name="Image 0" descr="/home/claude/icons/check_0B10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1834286"/>
            <a:ext cx="263347" cy="26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64592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leakage-free indirect model estimates habitability (R² ≈ 0.81–0.92) using only early-available, indirect data.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8" name="Image 1" descr="/home/claude/icons/check_0B10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2840126"/>
            <a:ext cx="263347" cy="26334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265176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bias in confirmed-exoplanet data measurably affects models — even underrating Earth itself, echoing published research.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48640" y="3703320"/>
            <a:ext cx="548640" cy="548640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1" name="Image 2" descr="/home/claude/icons/check_0B10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3845966"/>
            <a:ext cx="263347" cy="26334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5880" y="365760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currently unconfirmed TESS candidates were ranked, proving practical use beyond the training set.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548640" y="4709160"/>
            <a:ext cx="548640" cy="548640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4" name="Image 3" descr="/home/claude/icons/check_0B10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4851806"/>
            <a:ext cx="263347" cy="26334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25880" y="466344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habitable-zone cutoffs exclude meaningful near-miss planets that continuous scoring correctly identifies.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444444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1B2A6B"/>
          </a:solidFill>
          <a:ln/>
        </p:spPr>
      </p:sp>
      <p:pic>
        <p:nvPicPr>
          <p:cNvPr id="6" name="Image 0" descr="/home/claude/icons/thermomet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197144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5146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Kopparapu-based boundaries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9718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Stellar-temperature-dependent habitable zone limits, replacing the current flat cutoff.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43400" y="16002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444444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1828800"/>
            <a:ext cx="548640" cy="548640"/>
          </a:xfrm>
          <a:prstGeom prst="ellipse">
            <a:avLst/>
          </a:prstGeom>
          <a:solidFill>
            <a:srgbClr val="1B2A6B"/>
          </a:solidFill>
          <a:ln/>
        </p:spPr>
      </p:sp>
      <p:pic>
        <p:nvPicPr>
          <p:cNvPr id="11" name="Image 1" descr="/home/claude/icons/glob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646" y="197144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5146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Deeper superhabitability modeling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72000" y="29718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atmospheric data as it becomes available for more exoplanets.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138160" y="16002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444444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1828800"/>
            <a:ext cx="548640" cy="548640"/>
          </a:xfrm>
          <a:prstGeom prst="ellipse">
            <a:avLst/>
          </a:prstGeom>
          <a:solidFill>
            <a:srgbClr val="1B2A6B"/>
          </a:solidFill>
          <a:ln/>
        </p:spPr>
      </p:sp>
      <p:pic>
        <p:nvPicPr>
          <p:cNvPr id="16" name="Image 2" descr="/home/claude/icons/laye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9406" y="197144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25146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 TESS + Kepler candidates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366760" y="29718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Broaden validation once schema differences are reconciled.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379476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444444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023360"/>
            <a:ext cx="548640" cy="548640"/>
          </a:xfrm>
          <a:prstGeom prst="ellipse">
            <a:avLst/>
          </a:prstGeom>
          <a:solidFill>
            <a:srgbClr val="1B2A6B"/>
          </a:solidFill>
          <a:ln/>
        </p:spPr>
      </p:sp>
      <p:pic>
        <p:nvPicPr>
          <p:cNvPr id="21" name="Image 3" descr="/home/claude/icons/chartLin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886" y="416600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7091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re-validation pipeline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77240" y="51663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Auto-query the NASA TAP API to keep predictions current as TESS finds more candidates.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343400" y="379476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444444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0" y="4023360"/>
            <a:ext cx="548640" cy="548640"/>
          </a:xfrm>
          <a:prstGeom prst="ellipse">
            <a:avLst/>
          </a:prstGeom>
          <a:solidFill>
            <a:srgbClr val="1B2A6B"/>
          </a:solidFill>
          <a:ln/>
        </p:spPr>
      </p:sp>
      <p:pic>
        <p:nvPicPr>
          <p:cNvPr id="26" name="Image 4" descr="/home/claude/icons/question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646" y="4166006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2000" y="47091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Per-prediction explanations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72000" y="51663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SHAP-based feature contributions — explain why, not just what.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138160" y="379476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444444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66760" y="4023360"/>
            <a:ext cx="548640" cy="548640"/>
          </a:xfrm>
          <a:prstGeom prst="ellipse">
            <a:avLst/>
          </a:prstGeom>
          <a:solidFill>
            <a:srgbClr val="1B2A6B"/>
          </a:solidFill>
          <a:ln/>
        </p:spPr>
      </p:sp>
      <p:pic>
        <p:nvPicPr>
          <p:cNvPr id="31" name="Image 5" descr="/home/claude/icons/rocket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9406" y="4166006"/>
            <a:ext cx="263347" cy="26334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66760" y="47091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deployment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366760" y="51663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EXOPHCA online, beyond local/academic use.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914400"/>
            <a:ext cx="45720" cy="4572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103120" y="4389120"/>
            <a:ext cx="45720" cy="4572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291840" y="1463040"/>
            <a:ext cx="45720" cy="4572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394960" y="5394960"/>
            <a:ext cx="45720" cy="4572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132320" y="822960"/>
            <a:ext cx="45720" cy="4572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778240" y="3931920"/>
            <a:ext cx="45720" cy="4572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424160" y="1645920"/>
            <a:ext cx="45720" cy="4572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338560" y="5120640"/>
            <a:ext cx="45720" cy="4572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5852160"/>
            <a:ext cx="45720" cy="4572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035040" y="548640"/>
            <a:ext cx="45720" cy="4572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349240" y="1188720"/>
            <a:ext cx="1463040" cy="1463040"/>
          </a:xfrm>
          <a:prstGeom prst="ellipse">
            <a:avLst/>
          </a:prstGeom>
          <a:solidFill>
            <a:srgbClr val="1B2A6B"/>
          </a:solidFill>
          <a:ln/>
        </p:spPr>
      </p:sp>
      <p:pic>
        <p:nvPicPr>
          <p:cNvPr id="13" name="Image 0" descr="/home/claude/icons/planet_F4B9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9630" y="1569110"/>
            <a:ext cx="702259" cy="702259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48640" y="29260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15" name="Text 12"/>
          <p:cNvSpPr/>
          <p:nvPr/>
        </p:nvSpPr>
        <p:spPr>
          <a:xfrm>
            <a:off x="548640" y="3794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166360" y="4434840"/>
            <a:ext cx="1828800" cy="0"/>
          </a:xfrm>
          <a:prstGeom prst="line">
            <a:avLst/>
          </a:prstGeom>
          <a:noFill/>
          <a:ln w="12700">
            <a:solidFill>
              <a:srgbClr val="F4B94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EXOPHCA — Exoplanet Habitability Compatibility Analysis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1173</Words>
  <Application>Microsoft Office PowerPoint</Application>
  <PresentationFormat>Widescreen</PresentationFormat>
  <Paragraphs>202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Aether Sky</cp:lastModifiedBy>
  <cp:revision>6</cp:revision>
  <dcterms:created xsi:type="dcterms:W3CDTF">2026-08-02T10:49:14Z</dcterms:created>
  <dcterms:modified xsi:type="dcterms:W3CDTF">2026-10-08T15:12:37Z</dcterms:modified>
</cp:coreProperties>
</file>